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749808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914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任务描述书  →  Claude Command Skills  →  代码自动生成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5669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00D4FF"/>
                </a:solidFill>
              </a:rPr>
              <a:t>AI-Assisted Robot Skill Development Pipeline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" y="960120"/>
            <a:ext cx="3291840" cy="539496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0" y="960120"/>
            <a:ext cx="3291840" cy="539496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543800" y="960120"/>
            <a:ext cx="3291840" cy="539496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82880" y="960120"/>
            <a:ext cx="3291840" cy="347472"/>
          </a:xfrm>
          <a:prstGeom prst="rect">
            <a:avLst/>
          </a:prstGeom>
          <a:solidFill>
            <a:srgbClr val="008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0" y="960120"/>
            <a:ext cx="3291840" cy="347472"/>
          </a:xfrm>
          <a:prstGeom prst="rect">
            <a:avLst/>
          </a:prstGeom>
          <a:solidFill>
            <a:srgbClr val="A0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543800" y="960120"/>
            <a:ext cx="3291840" cy="347472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996696"/>
            <a:ext cx="3154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① INPUT  任务描述书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40" y="996696"/>
            <a:ext cx="3154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② COMMAND SKILLS  技能命令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5240" y="996696"/>
            <a:ext cx="3154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③ OUTPUT  生成代码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1417320"/>
            <a:ext cx="3017520" cy="1234440"/>
          </a:xfrm>
          <a:prstGeom prst="rect">
            <a:avLst/>
          </a:prstGeom>
          <a:solidFill>
            <a:srgbClr val="0A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146304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</a:rPr>
              <a:t>📄  海康任务描述-01号任务.docx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1801368"/>
            <a:ext cx="2834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AABBCC"/>
                </a:solidFill>
              </a:rPr>
              <a:t>九步操作流程描述</a:t>
            </a:r>
          </a:p>
          <a:p>
            <a:pPr algn="l"/>
            <a:r>
              <a:rPr sz="1000" b="0" i="0">
                <a:solidFill>
                  <a:srgbClr val="AABBCC"/>
                </a:solidFill>
              </a:rPr>
              <a:t>  ·  20项原子技能分类</a:t>
            </a:r>
          </a:p>
          <a:p>
            <a:pPr algn="l"/>
            <a:r>
              <a:rPr sz="1000" b="0" i="0">
                <a:solidFill>
                  <a:srgbClr val="AABBCC"/>
                </a:solidFill>
              </a:rPr>
              <a:t>  ·  力控 / 对准 / 同步精度要求</a:t>
            </a:r>
          </a:p>
          <a:p>
            <a:pPr algn="l"/>
            <a:r>
              <a:rPr sz="1000" b="0" i="0">
                <a:solidFill>
                  <a:srgbClr val="AABBCC"/>
                </a:solidFill>
              </a:rPr>
              <a:t>  ·  GR2双臂机器人能力说明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2788920"/>
            <a:ext cx="3017520" cy="256032"/>
          </a:xfrm>
          <a:prstGeom prst="rect">
            <a:avLst/>
          </a:prstGeom>
          <a:solidFill>
            <a:srgbClr val="005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2807208"/>
            <a:ext cx="2743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D4FF"/>
                </a:solidFill>
              </a:rPr>
              <a:t>Claude 分析文档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" y="3108960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9500"/>
                </a:solidFill>
              </a:rPr>
              <a:t>提炼原子技能库</a:t>
            </a:r>
          </a:p>
          <a:p>
            <a:pPr algn="l"/>
            <a:r>
              <a:rPr sz="1000" b="0">
                <a:solidFill>
                  <a:srgbClr val="AABBCC"/>
                </a:solidFill>
              </a:rPr>
              <a:t>  P1–P4  感知技能</a:t>
            </a:r>
          </a:p>
          <a:p>
            <a:pPr algn="l"/>
            <a:r>
              <a:rPr sz="1000" b="0">
                <a:solidFill>
                  <a:srgbClr val="AABBCC"/>
                </a:solidFill>
              </a:rPr>
              <a:t>  M1–M4  运动技能</a:t>
            </a:r>
          </a:p>
          <a:p>
            <a:pPr algn="l"/>
            <a:r>
              <a:rPr sz="1000" b="0">
                <a:solidFill>
                  <a:srgbClr val="AABBCC"/>
                </a:solidFill>
              </a:rPr>
              <a:t>  G1–G4  抓取技能</a:t>
            </a:r>
          </a:p>
          <a:p>
            <a:pPr algn="l"/>
            <a:r>
              <a:rPr sz="1000" b="0">
                <a:solidFill>
                  <a:srgbClr val="AABBCC"/>
                </a:solidFill>
              </a:rPr>
              <a:t>  O1–O4  操作技能</a:t>
            </a:r>
          </a:p>
          <a:p>
            <a:pPr algn="l"/>
            <a:r>
              <a:rPr sz="1000" b="0">
                <a:solidFill>
                  <a:srgbClr val="AABBCC"/>
                </a:solidFill>
              </a:rPr>
              <a:t>  C1       协作技能</a:t>
            </a:r>
          </a:p>
          <a:p>
            <a:pPr algn="l"/>
            <a:r>
              <a:rPr sz="1000" b="0">
                <a:solidFill>
                  <a:srgbClr val="AABBCC"/>
                </a:solidFill>
              </a:rPr>
              <a:t>  I1        交互技能</a:t>
            </a:r>
          </a:p>
          <a:p>
            <a:pPr algn="l"/>
            <a:r>
              <a:rPr sz="1000" b="0">
                <a:solidFill>
                  <a:srgbClr val="AABBCC"/>
                </a:solidFill>
              </a:rPr>
              <a:t/>
            </a:r>
          </a:p>
          <a:p>
            <a:pPr algn="l"/>
            <a:r>
              <a:rPr sz="1000" b="1">
                <a:solidFill>
                  <a:srgbClr val="FF9500"/>
                </a:solidFill>
              </a:rPr>
              <a:t>识别设计约束</a:t>
            </a:r>
          </a:p>
          <a:p>
            <a:pPr algn="l"/>
            <a:r>
              <a:rPr sz="1000" b="0">
                <a:solidFill>
                  <a:srgbClr val="AABBCC"/>
                </a:solidFill>
              </a:rPr>
              <a:t>  力控精度 0.5–2N</a:t>
            </a:r>
          </a:p>
          <a:p>
            <a:pPr algn="l"/>
            <a:r>
              <a:rPr sz="1000" b="0">
                <a:solidFill>
                  <a:srgbClr val="AABBCC"/>
                </a:solidFill>
              </a:rPr>
              <a:t>  对准精度 ±0.3mm</a:t>
            </a:r>
          </a:p>
          <a:p>
            <a:pPr algn="l"/>
            <a:r>
              <a:rPr sz="1000" b="0">
                <a:solidFill>
                  <a:srgbClr val="AABBCC"/>
                </a:solidFill>
              </a:rPr>
              <a:t>  双臂同步 &lt;100ms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794760" y="1417320"/>
            <a:ext cx="3017520" cy="1463040"/>
          </a:xfrm>
          <a:prstGeom prst="rect">
            <a:avLst/>
          </a:prstGeom>
          <a:solidFill>
            <a:srgbClr val="151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794760" y="1417320"/>
            <a:ext cx="3017520" cy="274320"/>
          </a:xfrm>
          <a:prstGeom prst="rect">
            <a:avLst/>
          </a:prstGeom>
          <a:solidFill>
            <a:srgbClr val="FF9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858768" y="1435608"/>
            <a:ext cx="1463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2A"/>
                </a:solidFill>
              </a:rPr>
              <a:t>/new-skill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94960" y="1453896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1">
                <a:solidFill>
                  <a:srgbClr val="0D1B2A"/>
                </a:solidFill>
              </a:rPr>
              <a:t>new-skill.md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58768" y="173736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9500"/>
                </a:solidFill>
              </a:rPr>
              <a:t>新建原子技能 MCP Tool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58768" y="2011680"/>
            <a:ext cx="2743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AABBCC"/>
                </a:solidFill>
              </a:rPr>
              <a:t>▸  输入: 技能ID + 机器人文件夹</a:t>
            </a:r>
          </a:p>
          <a:p>
            <a:pPr algn="l"/>
            <a:r>
              <a:rPr sz="900" b="0" i="0">
                <a:solidFill>
                  <a:srgbClr val="AABBCC"/>
                </a:solidFill>
              </a:rPr>
              <a:t>▸  读取 skill.py 现有结构</a:t>
            </a:r>
          </a:p>
          <a:p>
            <a:pPr algn="l"/>
            <a:r>
              <a:rPr sz="900" b="0" i="0">
                <a:solidFill>
                  <a:srgbClr val="AABBCC"/>
                </a:solidFill>
              </a:rPr>
              <a:t>▸  按规范生成 @mcp.tool() 函数</a:t>
            </a:r>
          </a:p>
          <a:p>
            <a:pPr algn="l"/>
            <a:r>
              <a:rPr sz="900" b="0" i="0">
                <a:solidFill>
                  <a:srgbClr val="AABBCC"/>
                </a:solidFill>
              </a:rPr>
              <a:t>▸  写入力控/精度约束注释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794760" y="3017520"/>
            <a:ext cx="3017520" cy="1463040"/>
          </a:xfrm>
          <a:prstGeom prst="rect">
            <a:avLst/>
          </a:prstGeom>
          <a:solidFill>
            <a:srgbClr val="151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794760" y="3017520"/>
            <a:ext cx="3017520" cy="2743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858768" y="3035808"/>
            <a:ext cx="1463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2A"/>
                </a:solidFill>
              </a:rPr>
              <a:t>/plan-step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94960" y="3054096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1">
                <a:solidFill>
                  <a:srgbClr val="0D1B2A"/>
                </a:solidFill>
              </a:rPr>
              <a:t>plan-step.md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58768" y="333756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D4FF"/>
                </a:solidFill>
              </a:rPr>
              <a:t>生成步骤执行计划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58768" y="3611880"/>
            <a:ext cx="2743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AABBCC"/>
                </a:solidFill>
              </a:rPr>
              <a:t>▸  输入: 步骤编号 (1–9)</a:t>
            </a:r>
          </a:p>
          <a:p>
            <a:pPr algn="l"/>
            <a:r>
              <a:rPr sz="900" b="0" i="0">
                <a:solidFill>
                  <a:srgbClr val="AABBCC"/>
                </a:solidFill>
              </a:rPr>
              <a:t>▸  查找规范技能序列</a:t>
            </a:r>
          </a:p>
          <a:p>
            <a:pPr algn="l"/>
            <a:r>
              <a:rPr sz="900" b="0" i="0">
                <a:solidFill>
                  <a:srgbClr val="AABBCC"/>
                </a:solidFill>
              </a:rPr>
              <a:t>▸  对比已实现 vs 缺失技能</a:t>
            </a:r>
          </a:p>
          <a:p>
            <a:pPr algn="l"/>
            <a:r>
              <a:rPr sz="900" b="0" i="0">
                <a:solidFill>
                  <a:srgbClr val="AABBCC"/>
                </a:solidFill>
              </a:rPr>
              <a:t>▸  输出伪代码调用链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794760" y="4617720"/>
            <a:ext cx="3017520" cy="1463040"/>
          </a:xfrm>
          <a:prstGeom prst="rect">
            <a:avLst/>
          </a:prstGeom>
          <a:solidFill>
            <a:srgbClr val="151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794760" y="4617720"/>
            <a:ext cx="3017520" cy="27432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858768" y="4636008"/>
            <a:ext cx="1463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2A"/>
                </a:solidFill>
              </a:rPr>
              <a:t>/check-skills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94960" y="4654296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1">
                <a:solidFill>
                  <a:srgbClr val="0D1B2A"/>
                </a:solidFill>
              </a:rPr>
              <a:t>check-skills.md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858768" y="493776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D6A0"/>
                </a:solidFill>
              </a:rPr>
              <a:t>审计技能覆盖率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858768" y="5212080"/>
            <a:ext cx="2743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AABBCC"/>
                </a:solidFill>
              </a:rPr>
              <a:t>▸  扫描 skill.py 已实现技能</a:t>
            </a:r>
          </a:p>
          <a:p>
            <a:pPr algn="l"/>
            <a:r>
              <a:rPr sz="900" b="0" i="0">
                <a:solidFill>
                  <a:srgbClr val="AABBCC"/>
                </a:solidFill>
              </a:rPr>
              <a:t>▸  输出 20项覆盖矩阵 ✅/❌</a:t>
            </a:r>
          </a:p>
          <a:p>
            <a:pPr algn="l"/>
            <a:r>
              <a:rPr sz="900" b="0" i="0">
                <a:solidFill>
                  <a:srgbClr val="AABBCC"/>
                </a:solidFill>
              </a:rPr>
              <a:t>▸  9步工作流就绪状态</a:t>
            </a:r>
          </a:p>
          <a:p>
            <a:pPr algn="l"/>
            <a:r>
              <a:rPr sz="900" b="0" i="0">
                <a:solidFill>
                  <a:srgbClr val="AABBCC"/>
                </a:solidFill>
              </a:rPr>
              <a:t>▸  优先补全建议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794760" y="6035040"/>
            <a:ext cx="3017520" cy="201168"/>
          </a:xfrm>
          <a:prstGeom prst="rect">
            <a:avLst/>
          </a:prstGeom>
          <a:solidFill>
            <a:srgbClr val="201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840480" y="6044184"/>
            <a:ext cx="2926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A06CFF"/>
                </a:solidFill>
              </a:rPr>
              <a:t>Claude Code 中使用  /new-skill  /plan-step  /check-skills  调用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680960" y="1417320"/>
            <a:ext cx="73152" cy="68580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799832" y="1417320"/>
            <a:ext cx="2898648" cy="685800"/>
          </a:xfrm>
          <a:prstGeom prst="rect">
            <a:avLst/>
          </a:prstGeom>
          <a:solidFill>
            <a:srgbClr val="0A20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863840" y="146304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D6A0"/>
                </a:solidFill>
              </a:rPr>
              <a:t>gr2_robot_local/skill.py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863840" y="173736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BCC"/>
                </a:solidFill>
              </a:rPr>
              <a:t>20项 @mcp.tool() 原子技能实现
(P/M/G/O/C/I 全类别，含精度约束)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680960" y="2221992"/>
            <a:ext cx="73152" cy="68580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799832" y="2221992"/>
            <a:ext cx="2898648" cy="685800"/>
          </a:xfrm>
          <a:prstGeom prst="rect">
            <a:avLst/>
          </a:prstGeom>
          <a:solidFill>
            <a:srgbClr val="0A20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863840" y="2267712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D6A0"/>
                </a:solidFill>
              </a:rPr>
              <a:t>gr2_robot_remote/skill.py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863840" y="2542032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BCC"/>
                </a:solidFill>
              </a:rPr>
              <a:t>HTTP 远程模式同等技能
(stateless_http, port 8000)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680960" y="3026663"/>
            <a:ext cx="73152" cy="685800"/>
          </a:xfrm>
          <a:prstGeom prst="rect">
            <a:avLst/>
          </a:prstGeom>
          <a:solidFill>
            <a:srgbClr val="008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799832" y="3026663"/>
            <a:ext cx="2898648" cy="685800"/>
          </a:xfrm>
          <a:prstGeom prst="rect">
            <a:avLst/>
          </a:prstGeom>
          <a:solidFill>
            <a:srgbClr val="0A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863840" y="3072383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8BD8"/>
                </a:solidFill>
              </a:rPr>
              <a:t>master/scene/profile.yaml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863840" y="3346703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BCC"/>
                </a:solidFill>
              </a:rPr>
              <a:t>气密检测工作台场景
transferBoxIn/Out · inspectionStation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680960" y="3831336"/>
            <a:ext cx="73152" cy="685800"/>
          </a:xfrm>
          <a:prstGeom prst="rect">
            <a:avLst/>
          </a:prstGeom>
          <a:solidFill>
            <a:srgbClr val="FF9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799832" y="3831336"/>
            <a:ext cx="2898648" cy="685800"/>
          </a:xfrm>
          <a:prstGeom prst="rect">
            <a:avLst/>
          </a:prstGeom>
          <a:solidFill>
            <a:srgbClr val="1C12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863840" y="3877056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9500"/>
                </a:solidFill>
              </a:rPr>
              <a:t>master/agents/prompts.py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863840" y="4151376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BCC"/>
                </a:solidFill>
              </a:rPr>
              <a:t>注入 GR2 上下文 + 9步参考流程
约束条件嵌入规划提示词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680960" y="4636007"/>
            <a:ext cx="73152" cy="685800"/>
          </a:xfrm>
          <a:prstGeom prst="rect">
            <a:avLst/>
          </a:prstGeom>
          <a:solidFill>
            <a:srgbClr val="AABB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7799832" y="4636007"/>
            <a:ext cx="2898648" cy="685800"/>
          </a:xfrm>
          <a:prstGeom prst="rect">
            <a:avLst/>
          </a:prstGeom>
          <a:solidFill>
            <a:srgbClr val="141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863840" y="4681727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ABBCC"/>
                </a:solidFill>
              </a:rPr>
              <a:t>slaver/config.yaml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863840" y="4956047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BCC"/>
                </a:solidFill>
              </a:rPr>
              <a:t>robot: gr2_robot · local · max_tools=5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680960" y="5440680"/>
            <a:ext cx="73152" cy="685800"/>
          </a:xfrm>
          <a:prstGeom prst="rect">
            <a:avLst/>
          </a:prstGeom>
          <a:solidFill>
            <a:srgbClr val="AABB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799832" y="5440680"/>
            <a:ext cx="2898648" cy="685800"/>
          </a:xfrm>
          <a:prstGeom prst="rect">
            <a:avLst/>
          </a:prstGeom>
          <a:solidFill>
            <a:srgbClr val="141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863840" y="548640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ABBCC"/>
                </a:solidFill>
              </a:rPr>
              <a:t>slaver/tools/memory.py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863840" y="576072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BCC"/>
                </a:solidFill>
              </a:rPr>
              <a:t>新增 none 动作类型
感知/等待类技能不触发场景更新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493008" y="3291840"/>
            <a:ext cx="146304" cy="320040"/>
          </a:xfrm>
          <a:prstGeom prst="rect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3493008" y="3291840"/>
            <a:ext cx="146304" cy="3200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447288" y="31546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0D4FF"/>
                </a:solidFill>
              </a:rPr>
              <a:t>➜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447288" y="361188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AABBCC"/>
                </a:solidFill>
              </a:rPr>
              <a:t>Claude
Analyzes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196328" y="3291840"/>
            <a:ext cx="146304" cy="320040"/>
          </a:xfrm>
          <a:prstGeom prst="rect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7196328" y="3291840"/>
            <a:ext cx="146304" cy="3200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150608" y="31546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0D4FF"/>
                </a:solidFill>
              </a:rPr>
              <a:t>➜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150608" y="361188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AABBCC"/>
                </a:solidFill>
              </a:rPr>
              <a:t>Claude
Generates</a:t>
            </a:r>
          </a:p>
        </p:txBody>
      </p:sp>
      <p:sp>
        <p:nvSpPr>
          <p:cNvPr id="74" name="Rectangle 73"/>
          <p:cNvSpPr/>
          <p:nvPr/>
        </p:nvSpPr>
        <p:spPr>
          <a:xfrm>
            <a:off x="0" y="6473952"/>
            <a:ext cx="12188952" cy="310896"/>
          </a:xfrm>
          <a:prstGeom prst="rect">
            <a:avLst/>
          </a:prstGeom>
          <a:solidFill>
            <a:srgbClr val="10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274320" y="6492240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D4FF"/>
                </a:solidFill>
              </a:rPr>
              <a:t>📄 任务文档  →  🧠 Claude 理解  →  📝 Command Skills (.md)  →  ⚡ 一键生成  →  🤖 完整机器人技能代码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